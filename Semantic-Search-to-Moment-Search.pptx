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A33B16"/>
                </a:solidFill>
                <a:latin typeface="Calibri"/>
              </a:rPr>
              <a:t>THE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560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0">
                <a:solidFill>
                  <a:srgbClr val="5A636A"/>
                </a:solidFill>
                <a:latin typeface="Calibri"/>
              </a:rPr>
              <a:t>1  /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Steve Jobs  ·  Stanford 2005  ·  UF8uR6Z6KLc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62025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Semantic Search to Moment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1">
                <a:solidFill>
                  <a:srgbClr val="14283C"/>
                </a:solidFill>
                <a:latin typeface="Calibri"/>
              </a:rPr>
              <a:t>Video answers are moments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115568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A commencement talk is three stories plus a closing charge, spoken with pauses between them.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The index is the Stanford 2005 address: 244 captions, one embedding model, two collections.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Claim: a 250-character window answers with a fragment. A pause-and-cue moment answers with the idea.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Demo path: python app.py, or live_test.ipynb in Colab. Both print the same side-by-side.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283C"/>
                </a:solidFill>
                <a:latin typeface="Calibri"/>
              </a:rPr>
              <a:t>Muthukumar Selvarasu   ·   FDE Platform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Calibri"/>
              </a:rPr>
              <a:t>GitHub: Muthukumar-Selvarasu/agentic-semantic-search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65376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36A"/>
                </a:solidFill>
                <a:latin typeface="Calibri"/>
              </a:rPr>
              <a:t>Source: Steve Jobs, Stanford commencement address, 2005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A33B16"/>
                </a:solidFill>
                <a:latin typeface="Calibri"/>
              </a:rPr>
              <a:t>PART 1  ·  BASELINE SEMANTIC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560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0">
                <a:solidFill>
                  <a:srgbClr val="5A636A"/>
                </a:solidFill>
                <a:latin typeface="Calibri"/>
              </a:rPr>
              <a:t>2  /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Steve Jobs  ·  Stanford 2005  ·  UF8uR6Z6KLc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62025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Semantic Search to Moment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400" b="1">
                <a:solidFill>
                  <a:srgbClr val="14283C"/>
                </a:solidFill>
                <a:latin typeface="Calibri"/>
              </a:rPr>
              <a:t>Fixed windows cut the sentence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Join the captions, then cut every 250 characters with 50 characters of overlap.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Embed each window and store it in baseline_collection, with the caption times the window touches.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Retrieve the top 3 windows and stitch them in time order. Gaps are marked with [...].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This talk becomes 61 windows. All 61 break a sentence edge.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C1C1C"/>
                </a:solidFill>
                <a:latin typeface="Calibri"/>
              </a:rPr>
              <a:t>The calligraphy answer opens on the fragment “iceless later on.”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A33B16"/>
                </a:solidFill>
                <a:latin typeface="Calibri"/>
              </a:rPr>
              <a:t>PART 2  ·  MOMENT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560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0">
                <a:solidFill>
                  <a:srgbClr val="5A636A"/>
                </a:solidFill>
                <a:latin typeface="Calibri"/>
              </a:rPr>
              <a:t>3  /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Steve Jobs  ·  Stanford 2005  ·  UF8uR6Z6KLc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62025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Semantic Search to Moment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400" b="1">
                <a:solidFill>
                  <a:srgbClr val="14283C"/>
                </a:solidFill>
                <a:latin typeface="Calibri"/>
              </a:rPr>
              <a:t>Pauses and topic cues hold 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Open a new moment when the gap is at least 2 seconds, or when a caption starts with a topic cue such as “my third story is about death.”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A 120-second cap still splits on a caption boundary, so one silent stretch cannot become the whole video.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Store the full moment with start_time, end_time, and moment_summary in moment_collection.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This talk yields 15 moments. Story cues land at 00:56, 05:39, and 09:05.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Retrieval returns that whole span. Alternate moments are listed and kept out of the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A33B16"/>
                </a:solidFill>
                <a:latin typeface="Calibri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560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0">
                <a:solidFill>
                  <a:srgbClr val="5A636A"/>
                </a:solidFill>
                <a:latin typeface="Calibri"/>
              </a:rPr>
              <a:t>4  /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Steve Jobs  ·  Stanford 2005  ·  UF8uR6Z6KLc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62025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Semantic Search to Moment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1">
                <a:solidFill>
                  <a:srgbClr val="14283C"/>
                </a:solidFill>
                <a:latin typeface="Calibri"/>
              </a:rPr>
              <a:t>Same questions, different context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11155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617720"/>
                <a:gridCol w="4572000"/>
              </a:tblGrid>
              <a:tr h="1082040">
                <a:tc>
                  <a:txBody>
                    <a:bodyPr wrap="square" rIns="73152" tIns="54864" bIns="54864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4283C"/>
                    </a:solidFill>
                  </a:tcPr>
                </a:tc>
                <a:tc>
                  <a:txBody>
                    <a:bodyPr wrap="square" rIns="73152" tIns="54864" bIns="54864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14283C"/>
                    </a:solidFill>
                  </a:tcPr>
                </a:tc>
                <a:tc>
                  <a:txBody>
                    <a:bodyPr wrap="square" rIns="73152" tIns="54864" bIns="54864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Moment RAG</a:t>
                      </a:r>
                    </a:p>
                  </a:txBody>
                  <a:tcPr anchor="ctr">
                    <a:solidFill>
                      <a:srgbClr val="14283C"/>
                    </a:solidFill>
                  </a:tcPr>
                </a:tc>
              </a:tr>
              <a:tr h="1082040">
                <a:tc>
                  <a:txBody>
                    <a:bodyPr wrap="square" rIns="73152" tIns="54864" bIns="54864"/>
                    <a:lstStyle/>
                    <a:p>
                      <a:r>
                        <a:rPr sz="1500" b="1">
                          <a:solidFill>
                            <a:srgbClr val="14283C"/>
                          </a:solidFill>
                          <a:latin typeface="Calibri"/>
                        </a:rPr>
                        <a:t>Calligraphy
and the dots</a:t>
                      </a:r>
                    </a:p>
                  </a:txBody>
                  <a:tcPr anchor="ctr">
                    <a:solidFill>
                      <a:srgbClr val="FBF8F3"/>
                    </a:solidFill>
                  </a:tcPr>
                </a:tc>
                <a:tc>
                  <a:txBody>
                    <a:bodyPr wrap="square" rIns="73152" tIns="54864" bIns="54864"/>
                    <a:lstStyle/>
                    <a:p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04:51–05:07, 03:26–03:49,
13:18–13:34 (Stewart Brand)
188 tokens  ·  3/3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rIns="73152" tIns="54864" bIns="54864"/>
                    <a:lstStyle/>
                    <a:p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04:47–05:33, one intact span
185 tokens  ·  3/3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82040">
                <a:tc>
                  <a:txBody>
                    <a:bodyPr wrap="square" rIns="73152" tIns="54864" bIns="54864"/>
                    <a:lstStyle/>
                    <a:p>
                      <a:r>
                        <a:rPr sz="1500" b="1">
                          <a:solidFill>
                            <a:srgbClr val="14283C"/>
                          </a:solidFill>
                          <a:latin typeface="Calibri"/>
                        </a:rPr>
                        <a:t>Death, and
how to live</a:t>
                      </a:r>
                    </a:p>
                  </a:txBody>
                  <a:tcPr anchor="ctr">
                    <a:solidFill>
                      <a:srgbClr val="FBF8F3"/>
                    </a:solidFill>
                  </a:tcPr>
                </a:tc>
                <a:tc>
                  <a:txBody>
                    <a:bodyPr wrap="square" rIns="73152" tIns="54864" bIns="54864"/>
                    <a:lstStyle/>
                    <a:p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09:34–09:55, 11:44–12:02,
07:54–08:12 (love and loss)
188 tokens  ·  0/3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rIns="73152" tIns="54864" bIns="54864"/>
                    <a:lstStyle/>
                    <a:p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09:21–10:59, one intact span
includes “you are going to die”
375 tokens  ·  1/3 details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22452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0">
                <a:solidFill>
                  <a:srgbClr val="5A636A"/>
                </a:solidFill>
                <a:latin typeface="Calibri"/>
              </a:rPr>
              <a:t>Moment 12 (11:41–12:58) holds “Your time is limited, so don’t waste it.” The baseline window ends at 12:02, and that moment was not the top hit.</a:t>
            </a:r>
          </a:p>
        </p:txBody>
      </p:sp>
      <p:pic>
        <p:nvPicPr>
          <p:cNvPr id="12" name="Picture 11" descr="score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18888"/>
            <a:ext cx="646623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A33B16"/>
                </a:solidFill>
                <a:latin typeface="Calibri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560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0">
                <a:solidFill>
                  <a:srgbClr val="5A636A"/>
                </a:solidFill>
                <a:latin typeface="Calibri"/>
              </a:rPr>
              <a:t>5  /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Steve Jobs  ·  Stanford 2005  ·  UF8uR6Z6KLc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62025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Semantic Search to Moment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400" b="1">
                <a:solidFill>
                  <a:srgbClr val="14283C"/>
                </a:solidFill>
                <a:latin typeface="Calibri"/>
              </a:rPr>
              <a:t>Ship the moment, keep the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Index a lecture as moments when the user needs a seek time and a complete idea.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A short moment costs about the same tokens as three windows. A diagnosis-length moment costs about twice that.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On this transcript, fixed windows clip the sentence and import a neighboring story.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Next step: when the question asks for the line after a pause, consider the following moment. Moment 12 is the example.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1C1C1C"/>
                </a:solidFill>
                <a:latin typeface="Calibri"/>
              </a:rPr>
              <a:t>Two ranges to remember: 04:47–05:33 is a whole answer. 11:44–12:02 stopped about thirty seconds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